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24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x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987552"/>
            <a:ext cx="1965960" cy="1956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Lecția 3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22960" y="363931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Operatori în Python</a:t>
            </a:r>
            <a:endParaRPr lang="en-US" sz="4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" y="441655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operatori aritmetici • incrementare/decrementare • comentarii • operatori logici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01000" y="1115568"/>
            <a:ext cx="3319272" cy="129844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= 8 / 2 * (2 + 2)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print(x)   # 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001000" y="2697480"/>
            <a:ext cx="3319272" cy="621792"/>
          </a:xfrm>
          <a:prstGeom prst="rect">
            <a:avLst/>
          </a:prstGeom>
          <a:solidFill>
            <a:srgbClr val="FFF3B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Întrebarea lecției: cum citește Python o expresie?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62544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Clasa a X-a • Informatică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obiective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Ce vom învăța astăzi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 la calcule simple la condiții logice în programe.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38912" cy="438912"/>
          </a:xfrm>
          <a:prstGeom prst="rect">
            <a:avLst/>
          </a:prstGeom>
          <a:solidFill>
            <a:srgbClr val="1F77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1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99616" y="1865376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identificăm operatorii aritmetici și ordinea lor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438912" cy="438912"/>
          </a:xfrm>
          <a:prstGeom prst="rect">
            <a:avLst/>
          </a:prstGeom>
          <a:solidFill>
            <a:srgbClr val="2F9E4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99616" y="261518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folosim expresii compuse și paranteze corect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328416"/>
            <a:ext cx="438912" cy="438912"/>
          </a:xfrm>
          <a:prstGeom prst="rect">
            <a:avLst/>
          </a:prstGeom>
          <a:solidFill>
            <a:srgbClr val="7048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99616" y="336499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scriem actualizări de variabile cu +=, -=, *=, /=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078224"/>
            <a:ext cx="438912" cy="438912"/>
          </a:xfrm>
          <a:prstGeom prst="rect">
            <a:avLst/>
          </a:prstGeom>
          <a:solidFill>
            <a:srgbClr val="F08C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99616" y="411480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aplicăm operatori de comparație și logici în condiții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09560" y="1828800"/>
            <a:ext cx="3246120" cy="19202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ro-RO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</a:t>
            </a:r>
            <a:r>
              <a:rPr lang="en-US" sz="1800" dirty="0" err="1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reț</a:t>
            </a: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 120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reducere = 15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final = </a:t>
            </a:r>
            <a:r>
              <a:rPr lang="en-US" sz="1800" dirty="0" err="1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preț</a:t>
            </a: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- preț * reducere / 100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print(final)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09560" y="4023360"/>
            <a:ext cx="3246120" cy="822960"/>
          </a:xfrm>
          <a:prstGeom prst="rect">
            <a:avLst/>
          </a:prstGeom>
          <a:solidFill>
            <a:srgbClr val="D8E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Operatorii sunt „verbele” expresiilor: calculează, compară, combină valori.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Operatori aritmetici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Aceiași operatori pot produce rezultate diferite dacă tipul operației se schimbă.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1810512"/>
            <a:ext cx="1078992" cy="411480"/>
          </a:xfrm>
          <a:prstGeom prst="rect">
            <a:avLst/>
          </a:prstGeom>
          <a:solidFill>
            <a:srgbClr val="D8EC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Operator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0" y="1810512"/>
            <a:ext cx="2651760" cy="411480"/>
          </a:xfrm>
          <a:prstGeom prst="rect">
            <a:avLst/>
          </a:prstGeom>
          <a:solidFill>
            <a:srgbClr val="D8EC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Semnificație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0" y="1810512"/>
            <a:ext cx="2505456" cy="411480"/>
          </a:xfrm>
          <a:prstGeom prst="rect">
            <a:avLst/>
          </a:prstGeom>
          <a:solidFill>
            <a:srgbClr val="D8EC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Exemplu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9808" y="2221992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**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28800" y="2221992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ridicare la putere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80560" y="2221992"/>
            <a:ext cx="2505456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2 ** 3  →  8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" y="2633472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%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28800" y="2633472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restul împărțirii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2633472"/>
            <a:ext cx="2505456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8 % 3  →  2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808" y="3044952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//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28800" y="3044952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împărțire întreagă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80560" y="3044952"/>
            <a:ext cx="2505456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9 // 2  →  4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9808" y="3456432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/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28800" y="3456432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împărțire reală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0560" y="3456432"/>
            <a:ext cx="2505456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9 / 2  →  4.5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9808" y="3867912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*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28800" y="3867912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înmulțire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80560" y="3867912"/>
            <a:ext cx="2505456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3 * 5  →  15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9808" y="4279392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-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828800" y="4279392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scădere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80560" y="4279392"/>
            <a:ext cx="2505456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5 - 2  →  3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" y="4690872"/>
            <a:ext cx="107899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+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828800" y="4690872"/>
            <a:ext cx="26517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adunare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480560" y="4690872"/>
            <a:ext cx="2505456" cy="411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6 + 2  →  8</a:t>
            </a:r>
            <a:endParaRPr lang="en-US" sz="146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52360" y="1847088"/>
            <a:ext cx="3566160" cy="2176272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= 17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b = 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print(a / b)   # 3.4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print(a // b)  # 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print(a % b)   # 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52360" y="4315968"/>
            <a:ext cx="3566160" cy="777240"/>
          </a:xfrm>
          <a:prstGeom prst="rect">
            <a:avLst/>
          </a:prstGeom>
          <a:solidFill>
            <a:srgbClr val="D3F9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r>
              <a:rPr lang="en-US" sz="15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</a:t>
            </a:r>
            <a:r>
              <a:rPr lang="ro-RO" sz="15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</a:t>
            </a:r>
            <a:r>
              <a:rPr lang="en-US" sz="1550" dirty="0" err="1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ulă</a:t>
            </a:r>
            <a:r>
              <a:rPr lang="ro-RO" sz="15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</a:t>
            </a:r>
            <a:r>
              <a:rPr lang="en-US" sz="1550" dirty="0" err="1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utilă</a:t>
            </a:r>
            <a:r>
              <a:rPr lang="en-US" sz="15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:  a = b * (a // b) + (a % b)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Exe</a:t>
            </a:r>
            <a:r>
              <a:rPr lang="ro-RO" sz="15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</a:t>
            </a:r>
            <a:r>
              <a:rPr lang="en-US" sz="1550" dirty="0" err="1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plu</a:t>
            </a:r>
            <a:r>
              <a:rPr lang="en-US" sz="15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: 17 = 5 * 3 + 2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precedență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04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Ordinea operațiilor în Python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Python respectă o precedență clară. Când există dubii, folosim paranteze.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11480" cy="411480"/>
          </a:xfrm>
          <a:prstGeom prst="rect">
            <a:avLst/>
          </a:prstGeom>
          <a:solidFill>
            <a:srgbClr val="1F77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1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Paranteze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2648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(2 + 2)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65960" y="2084832"/>
            <a:ext cx="38404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06040" y="1874520"/>
            <a:ext cx="411480" cy="411480"/>
          </a:xfrm>
          <a:prstGeom prst="rect">
            <a:avLst/>
          </a:prstGeom>
          <a:solidFill>
            <a:srgbClr val="1F77B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2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1460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Putere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95728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2 ** 3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49040" y="2084832"/>
            <a:ext cx="38404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389120" y="1874520"/>
            <a:ext cx="411480" cy="411480"/>
          </a:xfrm>
          <a:prstGeom prst="rect">
            <a:avLst/>
          </a:prstGeom>
          <a:solidFill>
            <a:srgbClr val="2F9E4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3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9768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*  /  //  %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78808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8 / 2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532120" y="2084832"/>
            <a:ext cx="38404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172200" y="1874520"/>
            <a:ext cx="411480" cy="411480"/>
          </a:xfrm>
          <a:prstGeom prst="rect">
            <a:avLst/>
          </a:prstGeom>
          <a:solidFill>
            <a:srgbClr val="2F9E4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4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8076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+  -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61888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6 + 4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15200" y="2084832"/>
            <a:ext cx="38404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955280" y="1874520"/>
            <a:ext cx="411480" cy="411480"/>
          </a:xfrm>
          <a:prstGeom prst="rect">
            <a:avLst/>
          </a:prstGeom>
          <a:solidFill>
            <a:srgbClr val="7048E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5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86384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Comparații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4968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&gt;= 10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98280" y="2084832"/>
            <a:ext cx="38404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738360" y="1874520"/>
            <a:ext cx="411480" cy="411480"/>
          </a:xfrm>
          <a:prstGeom prst="rect">
            <a:avLst/>
          </a:prstGeom>
          <a:solidFill>
            <a:srgbClr val="F08C0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6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4692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not  and  or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528048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and b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0120" y="4160520"/>
            <a:ext cx="4389120" cy="148132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8 / 2 * (2 + 2)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 8 / 2 * 4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 4 * 4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 16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37960" y="4160520"/>
            <a:ext cx="4389120" cy="148132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8 / (2 * (2 + 2))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 8 / (2 * 4)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 8 / 8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 1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exemple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05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Împărțirea: /, // și %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Trei operatori, trei întrebări diferite.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749808" cy="658368"/>
          </a:xfrm>
          <a:prstGeom prst="rect">
            <a:avLst/>
          </a:prstGeom>
          <a:solidFill>
            <a:srgbClr val="D8E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/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55648" y="19019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Cât este valoarea exactă?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6112" y="28346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17 / 5  →  3.4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749808" cy="658368"/>
          </a:xfrm>
          <a:prstGeom prst="rect">
            <a:avLst/>
          </a:prstGeom>
          <a:solidFill>
            <a:srgbClr val="D3F9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//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50408" y="19019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Câte grupe complete obțin?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90872" y="28346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17 // 5  →  3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12480" y="1874520"/>
            <a:ext cx="749808" cy="658368"/>
          </a:xfrm>
          <a:prstGeom prst="rect">
            <a:avLst/>
          </a:prstGeom>
          <a:solidFill>
            <a:srgbClr val="FFF3B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%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45168" y="190195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Ce rămâne negrupat?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85632" y="28346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2616B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17 % 5  →  2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" y="3858768"/>
            <a:ext cx="10241280" cy="141732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# Exemplu: 17 elevi, echipe de câte 5</a:t>
            </a:r>
            <a:endParaRPr lang="en-US" sz="17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elevi = 17</a:t>
            </a:r>
            <a:endParaRPr lang="en-US" sz="17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in_echipa = 5</a:t>
            </a:r>
            <a:endParaRPr lang="en-US" sz="17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print(elevi // in_echipa)  # 3 echipe complete</a:t>
            </a:r>
            <a:endParaRPr lang="en-US" sz="172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2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print(elevi % in_echipa)   # 2 elevi rămași</a:t>
            </a:r>
            <a:endParaRPr lang="en-US" sz="17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exemplificare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Expresii compuse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 expresie poate combina mai mulți operatori. Comentariile explică intenția.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4709160" cy="1536192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r = 4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pi = 3.14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aria = pi * r ** 2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print(aria)  # 50.24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602736"/>
            <a:ext cx="4709160" cy="502920"/>
          </a:xfrm>
          <a:prstGeom prst="rect">
            <a:avLst/>
          </a:prstGeom>
          <a:solidFill>
            <a:srgbClr val="FFF3B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Atenție: r ** 2 se calculează înainte de înmulțire.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92240" y="1783080"/>
            <a:ext cx="4709160" cy="178308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nota1 = 8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nota2 = 9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nota3 = 10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media = (nota1 + nota2 + nota3) / 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print(media)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3794760"/>
            <a:ext cx="4709160" cy="685800"/>
          </a:xfrm>
          <a:prstGeom prst="rect">
            <a:avLst/>
          </a:prstGeom>
          <a:solidFill>
            <a:srgbClr val="D8E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Parantezele arată că întâi adunăm notele, apoi împărțim la 3.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532180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90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</a:t>
            </a:r>
            <a:r>
              <a:rPr lang="en-US" sz="190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 se întâmplă dacă eliminăm parantezele din formula mediei?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incrementare / decrementare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07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Actualizarea valorii unei variabile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În Python nu folosim ++ sau --. Folosim operatorii de atribuire compusă.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3337560" cy="120700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= 10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= a + 1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print(a)  # 11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34840" y="2258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este echivalent cu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2715768"/>
            <a:ext cx="1600200" cy="0"/>
          </a:xfrm>
          <a:prstGeom prst="line">
            <a:avLst/>
          </a:prstGeom>
          <a:noFill/>
          <a:ln w="12700">
            <a:solidFill>
              <a:srgbClr val="52616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92240" y="1847088"/>
            <a:ext cx="3337560" cy="120700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= 10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+=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print(a)  # 11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3886200"/>
            <a:ext cx="2468880" cy="393192"/>
          </a:xfrm>
          <a:prstGeom prst="rect">
            <a:avLst/>
          </a:prstGeom>
          <a:solidFill>
            <a:srgbClr val="D3F9D8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Scriere lungă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3886200"/>
            <a:ext cx="2240280" cy="393192"/>
          </a:xfrm>
          <a:prstGeom prst="rect">
            <a:avLst/>
          </a:prstGeom>
          <a:solidFill>
            <a:srgbClr val="D3F9D8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Scriere scurtă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06440" y="3886200"/>
            <a:ext cx="4937760" cy="393192"/>
          </a:xfrm>
          <a:prstGeom prst="rect">
            <a:avLst/>
          </a:prstGeom>
          <a:solidFill>
            <a:srgbClr val="D3F9D8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Sens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279392"/>
            <a:ext cx="2468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= x + 3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66160" y="4279392"/>
            <a:ext cx="2240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x += 3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06440" y="4279392"/>
            <a:ext cx="4937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crește cu 3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4672584"/>
            <a:ext cx="2468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= x - 2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66160" y="4672584"/>
            <a:ext cx="2240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x -= 2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06440" y="4672584"/>
            <a:ext cx="4937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scade cu 2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5065776"/>
            <a:ext cx="2468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= x * 5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66160" y="5065776"/>
            <a:ext cx="2240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x *= 5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06440" y="5065776"/>
            <a:ext cx="4937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 înmulțește cu 5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7280" y="5458968"/>
            <a:ext cx="2468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= x / 2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66160" y="5458968"/>
            <a:ext cx="22402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x /= 2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06440" y="5458968"/>
            <a:ext cx="49377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 împarte la 2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comentarii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08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Comentarii în cod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Comentariile nu se execută. Ele explică de ce scriem codul într-un anumit fel.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5166360" cy="178308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# Comentariu pe o singură linie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pret = 250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tva = 0.20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total = pret + pret * tva  # calculăm prețul cu TVA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print(total)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46520" y="1828800"/>
            <a:ext cx="4800600" cy="157276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"""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Program: calcularea mediei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Autor: elevul X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Descriere: citește 3 note și afișează media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"""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4617720"/>
            <a:ext cx="10104120" cy="603504"/>
          </a:xfrm>
          <a:prstGeom prst="rect">
            <a:avLst/>
          </a:prstGeom>
          <a:solidFill>
            <a:srgbClr val="E5DB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Comentariile bune nu repetă codul; ele clarifică logica, formulele și deciziile.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comparații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09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Operatori de comparație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Rezultatul unei comparații este o valoare booleană: True sau False.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792224"/>
            <a:ext cx="1143000" cy="420624"/>
          </a:xfrm>
          <a:prstGeom prst="rect">
            <a:avLst/>
          </a:prstGeom>
          <a:solidFill>
            <a:srgbClr val="D8EC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Operator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0" y="1792224"/>
            <a:ext cx="2606040" cy="420624"/>
          </a:xfrm>
          <a:prstGeom prst="rect">
            <a:avLst/>
          </a:prstGeom>
          <a:solidFill>
            <a:srgbClr val="D8EC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Întrebare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212848"/>
            <a:ext cx="11430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==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2212848"/>
            <a:ext cx="26060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sunt egale?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2633472"/>
            <a:ext cx="11430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!=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0" y="2633472"/>
            <a:ext cx="26060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sunt diferite?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3054096"/>
            <a:ext cx="11430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&lt;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11680" y="3054096"/>
            <a:ext cx="26060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este mai mic?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3474720"/>
            <a:ext cx="11430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&gt;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11680" y="3474720"/>
            <a:ext cx="26060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este mai mare?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3895344"/>
            <a:ext cx="11430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&lt;=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11680" y="3895344"/>
            <a:ext cx="26060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este mai mic sau egal?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4315968"/>
            <a:ext cx="11430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&gt;=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11680" y="4315968"/>
            <a:ext cx="26060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este mai mare sau egal?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40680" y="1874520"/>
            <a:ext cx="5349240" cy="13716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nota = 7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print(nota &gt;= 5)   # True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print(nota == 10)   # False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print(nota != 0)    # True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40680" y="3703320"/>
            <a:ext cx="5349240" cy="685800"/>
          </a:xfrm>
          <a:prstGeom prst="rect">
            <a:avLst/>
          </a:prstGeom>
          <a:solidFill>
            <a:srgbClr val="FFE3E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Greșeală frecventă: = atribuie o valoare, == compară două valori.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40680" y="4617720"/>
            <a:ext cx="5349240" cy="7772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= 3      # atribuire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x == 3     # comparație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logică booleană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10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Operatori logici: and, or, not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Operatorii logici combină condiții și ne ajută să luăm decizii în program.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554480" cy="502920"/>
          </a:xfrm>
          <a:prstGeom prst="rect">
            <a:avLst/>
          </a:prstGeom>
          <a:solidFill>
            <a:srgbClr val="E5DB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Expresie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77440" y="1828800"/>
            <a:ext cx="3154680" cy="502920"/>
          </a:xfrm>
          <a:prstGeom prst="rect">
            <a:avLst/>
          </a:prstGeom>
          <a:solidFill>
            <a:srgbClr val="E5DB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Este True când...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and B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77440" y="2331720"/>
            <a:ext cx="3154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 și B sunt ambele adevărate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 or B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77440" y="2834640"/>
            <a:ext cx="3154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cel puțin una este adevărată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15544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02A43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not A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77440" y="3337560"/>
            <a:ext cx="3154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 este falsă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44768" y="1828800"/>
            <a:ext cx="5029200" cy="148132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varsta = 16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are_acord = True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poate_participa = varsta &gt;= 14 and are_acord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print(poate_participa)  # True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44768" y="3840480"/>
            <a:ext cx="5029200" cy="1481328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nota = 4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absente = 1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risc = nota &lt; 5 or absente &gt; 10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print(risc)  # True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activitate în clasă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11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Exerciții în clasă: calculează și prezice rezultatul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Lucru individual 5 minute, apoi verificare în perechi.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4498848" cy="512064"/>
          </a:xfrm>
          <a:prstGeom prst="rect">
            <a:avLst/>
          </a:prstGeom>
          <a:solidFill>
            <a:srgbClr val="D8E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1. 8 / 2 * (2 + 2)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498848" cy="512064"/>
          </a:xfrm>
          <a:prstGeom prst="rect">
            <a:avLst/>
          </a:prstGeom>
          <a:solidFill>
            <a:srgbClr val="FFF3B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2. 8 / (2 * (2 + 2))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498848" cy="512064"/>
          </a:xfrm>
          <a:prstGeom prst="rect">
            <a:avLst/>
          </a:prstGeom>
          <a:solidFill>
            <a:srgbClr val="D8E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3. 77 // 12 și 77 % 12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4498848" cy="512064"/>
          </a:xfrm>
          <a:prstGeom prst="rect">
            <a:avLst/>
          </a:prstGeom>
          <a:solidFill>
            <a:srgbClr val="FFF3B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4. 3 ** 2 + 4 ** 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4498848" cy="512064"/>
          </a:xfrm>
          <a:prstGeom prst="rect">
            <a:avLst/>
          </a:prstGeom>
          <a:solidFill>
            <a:srgbClr val="D8EC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5. (10 + 2) // 5 + 7 % 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9360" y="3474720"/>
            <a:ext cx="4498848" cy="512064"/>
          </a:xfrm>
          <a:prstGeom prst="rect">
            <a:avLst/>
          </a:prstGeom>
          <a:solidFill>
            <a:srgbClr val="FFF3B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6. 2 + 3 * 4 ** 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74520" y="4919472"/>
            <a:ext cx="8412480" cy="91440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# Verificare în Python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print(8 / 2 * (2 + 2))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print(77 // 12, 77 % 12)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activitate aplicativă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Probleme de rezolvat în clasă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Scrieți codul, rulați-l și explicați operatorii folosiți.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7B4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Problema 1: Bilete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50208" y="17647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Un bilet costă 35 lei. Calculați costul pentru 12 elevi și restul banilor din 500 lei.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770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9E44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Problema 2: Echipe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50208" y="275234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În clasă sunt 31 elevi. Formați echipe de câte 4. Afișați numărul de echipe complete și elevii rămași.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31720" y="3931920"/>
            <a:ext cx="7688580" cy="1691640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# Model de pornire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elevi = 31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in_echipa = 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print(elevi // in_echipa)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print(elevi % in_echipa)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01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tema pentru acasă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02A4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Tema pentru acasă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Rezolvați în caiet + rulați codul în Python. </a:t>
            </a:r>
            <a:r>
              <a:rPr lang="en-US" sz="1450" dirty="0" err="1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Prezentați</a:t>
            </a:r>
            <a:r>
              <a:rPr lang="en-US" sz="1450" dirty="0">
                <a:solidFill>
                  <a:srgbClr val="52616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fișier.py.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1. Calculați aria și perimetrul unui dreptunghi pentru l = 8, L = 13.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313432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2. Pentru 95 de minute, afișați câte ore întregi și câte minute rămân.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843784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3. Pentru un număr n, afișați True dacă este par și False dacă este impar.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374136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4. Scrieți 3 expresii în care parantezele schimbă rezultatul.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904488"/>
            <a:ext cx="10012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5. Creați un exemplu propriu cu and, or sau not și explicați-l în comentariu.</a:t>
            </a:r>
            <a:endParaRPr lang="en-US" sz="16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9966960" cy="548640"/>
          </a:xfrm>
          <a:prstGeom prst="rect">
            <a:avLst/>
          </a:prstGeom>
          <a:solidFill>
            <a:srgbClr val="D3F9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Provocare: transformați temperatura din °C în °F:  F = C * 9 / 5 + 32.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08960" y="5669280"/>
            <a:ext cx="5943600" cy="713232"/>
          </a:xfrm>
          <a:prstGeom prst="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txBody>
          <a:bodyPr wrap="square" lIns="2159" tIns="2159" rIns="2159" bIns="2159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# Structura fișierului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# Nume Prenume, clasa X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Arial" panose="020B0604020202020204" pitchFamily="34" charset="0"/>
                <a:ea typeface="Noto Sans Mono" pitchFamily="34" charset="-122"/>
                <a:cs typeface="Arial" panose="020B0604020202020204" pitchFamily="34" charset="0"/>
              </a:rPr>
              <a:t># Lecția 3 - Operatori în Python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1279</Words>
  <Application>Microsoft Office PowerPoint</Application>
  <PresentationFormat>Ecran lat</PresentationFormat>
  <Paragraphs>260</Paragraphs>
  <Slides>13</Slides>
  <Notes>13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Noto Sans Mono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Lecția 3 - Operatori în Python</dc:title>
  <dc:subject>Lecția 3 - Operatori în Python</dc:subject>
  <dc:creator>OpenAI</dc:creator>
  <cp:lastModifiedBy>Betisor_Vadim</cp:lastModifiedBy>
  <cp:revision>5</cp:revision>
  <dcterms:created xsi:type="dcterms:W3CDTF">2026-09-14T05:30:22Z</dcterms:created>
  <dcterms:modified xsi:type="dcterms:W3CDTF">2026-09-14T05:45:55Z</dcterms:modified>
</cp:coreProperties>
</file>